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1383625" cy="30545088"/>
  <p:notesSz cx="6858000" cy="9144000"/>
  <p:defaultTextStyle>
    <a:defPPr>
      <a:defRPr lang="en-US"/>
    </a:defPPr>
    <a:lvl1pPr marL="0" algn="l" defTabSz="2119488" rtl="0" eaLnBrk="1" latinLnBrk="0" hangingPunct="1">
      <a:defRPr sz="4172" kern="1200">
        <a:solidFill>
          <a:schemeClr val="tx1"/>
        </a:solidFill>
        <a:latin typeface="+mn-lt"/>
        <a:ea typeface="+mn-ea"/>
        <a:cs typeface="+mn-cs"/>
      </a:defRPr>
    </a:lvl1pPr>
    <a:lvl2pPr marL="1059744" algn="l" defTabSz="2119488" rtl="0" eaLnBrk="1" latinLnBrk="0" hangingPunct="1">
      <a:defRPr sz="4172" kern="1200">
        <a:solidFill>
          <a:schemeClr val="tx1"/>
        </a:solidFill>
        <a:latin typeface="+mn-lt"/>
        <a:ea typeface="+mn-ea"/>
        <a:cs typeface="+mn-cs"/>
      </a:defRPr>
    </a:lvl2pPr>
    <a:lvl3pPr marL="2119488" algn="l" defTabSz="2119488" rtl="0" eaLnBrk="1" latinLnBrk="0" hangingPunct="1">
      <a:defRPr sz="4172" kern="1200">
        <a:solidFill>
          <a:schemeClr val="tx1"/>
        </a:solidFill>
        <a:latin typeface="+mn-lt"/>
        <a:ea typeface="+mn-ea"/>
        <a:cs typeface="+mn-cs"/>
      </a:defRPr>
    </a:lvl3pPr>
    <a:lvl4pPr marL="3179232" algn="l" defTabSz="2119488" rtl="0" eaLnBrk="1" latinLnBrk="0" hangingPunct="1">
      <a:defRPr sz="4172" kern="1200">
        <a:solidFill>
          <a:schemeClr val="tx1"/>
        </a:solidFill>
        <a:latin typeface="+mn-lt"/>
        <a:ea typeface="+mn-ea"/>
        <a:cs typeface="+mn-cs"/>
      </a:defRPr>
    </a:lvl4pPr>
    <a:lvl5pPr marL="4238976" algn="l" defTabSz="2119488" rtl="0" eaLnBrk="1" latinLnBrk="0" hangingPunct="1">
      <a:defRPr sz="4172" kern="1200">
        <a:solidFill>
          <a:schemeClr val="tx1"/>
        </a:solidFill>
        <a:latin typeface="+mn-lt"/>
        <a:ea typeface="+mn-ea"/>
        <a:cs typeface="+mn-cs"/>
      </a:defRPr>
    </a:lvl5pPr>
    <a:lvl6pPr marL="5298719" algn="l" defTabSz="2119488" rtl="0" eaLnBrk="1" latinLnBrk="0" hangingPunct="1">
      <a:defRPr sz="4172" kern="1200">
        <a:solidFill>
          <a:schemeClr val="tx1"/>
        </a:solidFill>
        <a:latin typeface="+mn-lt"/>
        <a:ea typeface="+mn-ea"/>
        <a:cs typeface="+mn-cs"/>
      </a:defRPr>
    </a:lvl6pPr>
    <a:lvl7pPr marL="6358463" algn="l" defTabSz="2119488" rtl="0" eaLnBrk="1" latinLnBrk="0" hangingPunct="1">
      <a:defRPr sz="4172" kern="1200">
        <a:solidFill>
          <a:schemeClr val="tx1"/>
        </a:solidFill>
        <a:latin typeface="+mn-lt"/>
        <a:ea typeface="+mn-ea"/>
        <a:cs typeface="+mn-cs"/>
      </a:defRPr>
    </a:lvl7pPr>
    <a:lvl8pPr marL="7418207" algn="l" defTabSz="2119488" rtl="0" eaLnBrk="1" latinLnBrk="0" hangingPunct="1">
      <a:defRPr sz="4172" kern="1200">
        <a:solidFill>
          <a:schemeClr val="tx1"/>
        </a:solidFill>
        <a:latin typeface="+mn-lt"/>
        <a:ea typeface="+mn-ea"/>
        <a:cs typeface="+mn-cs"/>
      </a:defRPr>
    </a:lvl8pPr>
    <a:lvl9pPr marL="8477951" algn="l" defTabSz="2119488" rtl="0" eaLnBrk="1" latinLnBrk="0" hangingPunct="1">
      <a:defRPr sz="417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25" d="100"/>
          <a:sy n="25" d="100"/>
        </p:scale>
        <p:origin x="1480"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98932"/>
            <a:ext cx="18176081" cy="10634216"/>
          </a:xfrm>
        </p:spPr>
        <p:txBody>
          <a:bodyPr anchor="b"/>
          <a:lstStyle>
            <a:lvl1pPr algn="ctr">
              <a:defRPr sz="14031"/>
            </a:lvl1pPr>
          </a:lstStyle>
          <a:p>
            <a:r>
              <a:rPr lang="en-US"/>
              <a:t>Click to edit Master title style</a:t>
            </a:r>
            <a:endParaRPr lang="en-US" dirty="0"/>
          </a:p>
        </p:txBody>
      </p:sp>
      <p:sp>
        <p:nvSpPr>
          <p:cNvPr id="3" name="Subtitle 2"/>
          <p:cNvSpPr>
            <a:spLocks noGrp="1"/>
          </p:cNvSpPr>
          <p:nvPr>
            <p:ph type="subTitle" idx="1"/>
          </p:nvPr>
        </p:nvSpPr>
        <p:spPr>
          <a:xfrm>
            <a:off x="2672953" y="16043244"/>
            <a:ext cx="16037719" cy="7374657"/>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04-07-2026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812842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04-07-2026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10081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615069"/>
            <a:ext cx="18443377" cy="12705906"/>
          </a:xfrm>
        </p:spPr>
        <p:txBody>
          <a:bodyPr anchor="b"/>
          <a:lstStyle>
            <a:lvl1pPr>
              <a:defRPr sz="14031"/>
            </a:lvl1pPr>
          </a:lstStyle>
          <a:p>
            <a:r>
              <a:rPr lang="en-US"/>
              <a:t>Click to edit Master title style</a:t>
            </a:r>
            <a:endParaRPr lang="en-US" dirty="0"/>
          </a:p>
        </p:txBody>
      </p:sp>
      <p:sp>
        <p:nvSpPr>
          <p:cNvPr id="3" name="Text Placeholder 2"/>
          <p:cNvSpPr>
            <a:spLocks noGrp="1"/>
          </p:cNvSpPr>
          <p:nvPr>
            <p:ph type="body" idx="1"/>
          </p:nvPr>
        </p:nvSpPr>
        <p:spPr>
          <a:xfrm>
            <a:off x="1458988" y="20441178"/>
            <a:ext cx="18443377" cy="6681736"/>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53E2C6-8CDE-4FA4-9434-0173729C9153}" type="datetimeFigureOut">
              <a:rPr lang="en-IN" smtClean="0"/>
              <a:t>04-07-2026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035159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53E2C6-8CDE-4FA4-9434-0173729C9153}" type="datetimeFigureOut">
              <a:rPr lang="en-IN" smtClean="0"/>
              <a:t>04-07-2026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42816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26250"/>
            <a:ext cx="18443377" cy="59039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2" y="7487791"/>
            <a:ext cx="9046274"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157442"/>
            <a:ext cx="9046274"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1" y="7487791"/>
            <a:ext cx="9090826"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157442"/>
            <a:ext cx="9090826"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53E2C6-8CDE-4FA4-9434-0173729C9153}" type="datetimeFigureOut">
              <a:rPr lang="en-IN" smtClean="0"/>
              <a:t>04-07-2026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5705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53E2C6-8CDE-4FA4-9434-0173729C9153}" type="datetimeFigureOut">
              <a:rPr lang="en-IN" smtClean="0"/>
              <a:t>04-07-2026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126069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3E2C6-8CDE-4FA4-9434-0173729C9153}" type="datetimeFigureOut">
              <a:rPr lang="en-IN" smtClean="0"/>
              <a:t>04-07-2026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2098165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Content Placeholder 2"/>
          <p:cNvSpPr>
            <a:spLocks noGrp="1"/>
          </p:cNvSpPr>
          <p:nvPr>
            <p:ph idx="1"/>
          </p:nvPr>
        </p:nvSpPr>
        <p:spPr>
          <a:xfrm>
            <a:off x="9090826" y="4397934"/>
            <a:ext cx="10825460" cy="21706810"/>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04-07-2026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25937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397934"/>
            <a:ext cx="10825460" cy="21706810"/>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dirty="0"/>
              <a:t>Click icon to add picture</a:t>
            </a:r>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04-07-2026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42848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04-07-2026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9034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26243"/>
            <a:ext cx="4610844" cy="258855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5" y="1626243"/>
            <a:ext cx="13565237" cy="25885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04-07-2026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71007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26250"/>
            <a:ext cx="18443377" cy="59039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131215"/>
            <a:ext cx="18443377" cy="193805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28310778"/>
            <a:ext cx="4811316" cy="1626243"/>
          </a:xfrm>
          <a:prstGeom prst="rect">
            <a:avLst/>
          </a:prstGeom>
        </p:spPr>
        <p:txBody>
          <a:bodyPr vert="horz" lIns="91440" tIns="45720" rIns="91440" bIns="45720" rtlCol="0" anchor="ctr"/>
          <a:lstStyle>
            <a:lvl1pPr algn="l">
              <a:defRPr sz="2806">
                <a:solidFill>
                  <a:schemeClr val="tx1">
                    <a:tint val="75000"/>
                  </a:schemeClr>
                </a:solidFill>
              </a:defRPr>
            </a:lvl1pPr>
          </a:lstStyle>
          <a:p>
            <a:fld id="{8453E2C6-8CDE-4FA4-9434-0173729C9153}" type="datetimeFigureOut">
              <a:rPr lang="en-IN" smtClean="0"/>
              <a:t>04-07-2026</a:t>
            </a:fld>
            <a:endParaRPr lang="en-IN" dirty="0"/>
          </a:p>
        </p:txBody>
      </p:sp>
      <p:sp>
        <p:nvSpPr>
          <p:cNvPr id="5" name="Footer Placeholder 4"/>
          <p:cNvSpPr>
            <a:spLocks noGrp="1"/>
          </p:cNvSpPr>
          <p:nvPr>
            <p:ph type="ftr" sz="quarter" idx="3"/>
          </p:nvPr>
        </p:nvSpPr>
        <p:spPr>
          <a:xfrm>
            <a:off x="7083326" y="28310778"/>
            <a:ext cx="7216973" cy="1626243"/>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5102185" y="28310778"/>
            <a:ext cx="4811316" cy="1626243"/>
          </a:xfrm>
          <a:prstGeom prst="rect">
            <a:avLst/>
          </a:prstGeom>
        </p:spPr>
        <p:txBody>
          <a:bodyPr vert="horz" lIns="91440" tIns="45720" rIns="91440" bIns="45720" rtlCol="0" anchor="ctr"/>
          <a:lstStyle>
            <a:lvl1pPr algn="r">
              <a:defRPr sz="2806">
                <a:solidFill>
                  <a:schemeClr val="tx1">
                    <a:tint val="75000"/>
                  </a:schemeClr>
                </a:solidFill>
              </a:defRPr>
            </a:lvl1pPr>
          </a:lstStyle>
          <a:p>
            <a:fld id="{AA8FA1BF-A921-4444-88C6-9EFD5BFD1773}" type="slidenum">
              <a:rPr lang="en-IN" smtClean="0"/>
              <a:t>‹#›</a:t>
            </a:fld>
            <a:endParaRPr lang="en-IN" dirty="0"/>
          </a:p>
        </p:txBody>
      </p:sp>
    </p:spTree>
    <p:extLst>
      <p:ext uri="{BB962C8B-B14F-4D97-AF65-F5344CB8AC3E}">
        <p14:creationId xmlns:p14="http://schemas.microsoft.com/office/powerpoint/2010/main" val="28736146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9812" y="365760"/>
            <a:ext cx="20664000" cy="29556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itle 3"/>
          <p:cNvSpPr txBox="1">
            <a:spLocks/>
          </p:cNvSpPr>
          <p:nvPr/>
        </p:nvSpPr>
        <p:spPr>
          <a:xfrm>
            <a:off x="2633472" y="365760"/>
            <a:ext cx="18390340" cy="1133856"/>
          </a:xfrm>
          <a:prstGeom prst="rect">
            <a:avLst/>
          </a:prstGeom>
        </p:spPr>
        <p:txBody>
          <a:bodyPr vert="horz" lIns="91440" tIns="45720" rIns="91440" bIns="45720" rtlCol="0" anchor="ctr">
            <a:normAutofit/>
          </a:bodyPr>
          <a:lst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a:lstStyle>
          <a:p>
            <a:r>
              <a:rPr lang="en-IN" sz="4800" dirty="0"/>
              <a:t>Real-Time Rendering for Cricket Shot Detection using Deep Learning</a:t>
            </a:r>
          </a:p>
        </p:txBody>
      </p:sp>
      <p:sp>
        <p:nvSpPr>
          <p:cNvPr id="7" name="Text Placeholder 22"/>
          <p:cNvSpPr txBox="1">
            <a:spLocks/>
          </p:cNvSpPr>
          <p:nvPr/>
        </p:nvSpPr>
        <p:spPr>
          <a:xfrm>
            <a:off x="2633472" y="1499616"/>
            <a:ext cx="18390340" cy="692658"/>
          </a:xfrm>
          <a:prstGeom prst="rect">
            <a:avLst/>
          </a:prstGeom>
        </p:spPr>
        <p:txBody>
          <a:bodyPr/>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buNone/>
            </a:pPr>
            <a:r>
              <a:rPr lang="en-US" sz="4400" dirty="0"/>
              <a:t>V. Sree Chaitran, C. Sujith Reddy, K. Ashok Reddy|</a:t>
            </a:r>
          </a:p>
        </p:txBody>
      </p:sp>
      <p:sp>
        <p:nvSpPr>
          <p:cNvPr id="10" name="Content Placeholder 10"/>
          <p:cNvSpPr txBox="1">
            <a:spLocks/>
          </p:cNvSpPr>
          <p:nvPr/>
        </p:nvSpPr>
        <p:spPr>
          <a:xfrm>
            <a:off x="359812" y="10955038"/>
            <a:ext cx="10350000" cy="18250344"/>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sz="2400" b="1" dirty="0"/>
              <a:t>Mediapipe Pose Detection:</a:t>
            </a:r>
            <a:r>
              <a:rPr lang="en-US" sz="2400" dirty="0"/>
              <a:t> Pose Detection: x, y, z and Visibility = 4, Unpacked across 33 points, 33*4 = 132, </a:t>
            </a:r>
          </a:p>
          <a:p>
            <a:r>
              <a:rPr lang="en-US" sz="2400" dirty="0"/>
              <a:t>Face Detection (</a:t>
            </a:r>
            <a:r>
              <a:rPr lang="en-US" sz="2400" dirty="0" err="1"/>
              <a:t>FaceMesh</a:t>
            </a:r>
            <a:r>
              <a:rPr lang="en-US" sz="2400" dirty="0"/>
              <a:t>): x, y, z = 3, Unpacked across 468 points, 468*3= 1404,</a:t>
            </a:r>
          </a:p>
          <a:p>
            <a:r>
              <a:rPr lang="en-US" sz="2400" dirty="0"/>
              <a:t>Left Hand Detection: x, y, z = 3, Unpacked across 21 points, 21*3= 63,</a:t>
            </a:r>
          </a:p>
          <a:p>
            <a:r>
              <a:rPr lang="en-US" sz="2400" dirty="0"/>
              <a:t>Right Hand Detection: x, y, z = 3, Unpacked across 21 points, 21*3= 63,</a:t>
            </a:r>
          </a:p>
          <a:p>
            <a:r>
              <a:rPr lang="en-US" sz="2400" dirty="0"/>
              <a:t>Total: 132 + 1404 + 63 + 63 = 1662 points.</a:t>
            </a:r>
          </a:p>
          <a:p>
            <a:r>
              <a:rPr lang="en-US" sz="2400" dirty="0"/>
              <a:t>Given a Frame we calculate the co-ordinates of 1662 points. For training we split the data into 30 frames and send it to the model for prediction of action (Pre-Stance, Stance, Straight Drive, Pull Shot) based on these 1662 points across 30 frames in a video. </a:t>
            </a:r>
          </a:p>
          <a:p>
            <a:r>
              <a:rPr lang="en-US" sz="2400" dirty="0"/>
              <a:t>So, input to the model is 30*30*1662 per action (</a:t>
            </a:r>
            <a:r>
              <a:rPr lang="en-US" sz="2400" dirty="0" err="1"/>
              <a:t>i.e</a:t>
            </a:r>
            <a:r>
              <a:rPr lang="en-US" sz="2400" dirty="0"/>
              <a:t> 30 videos per action with 30 frames per video and 1662 points per frame.)</a:t>
            </a:r>
          </a:p>
          <a:p>
            <a:r>
              <a:rPr lang="en-US" sz="2400" dirty="0"/>
              <a:t>This input is provided to the </a:t>
            </a:r>
            <a:r>
              <a:rPr lang="en-US" sz="2400" b="1" dirty="0"/>
              <a:t>LSTM model</a:t>
            </a:r>
            <a:r>
              <a:rPr lang="en-US" sz="2400" dirty="0"/>
              <a:t>, </a:t>
            </a:r>
          </a:p>
          <a:p>
            <a:r>
              <a:rPr lang="en-US" sz="2400" dirty="0"/>
              <a:t>Input to the model (30 Frames * 1662 body points)</a:t>
            </a:r>
          </a:p>
          <a:p>
            <a:endParaRPr lang="en-US" sz="2400" dirty="0"/>
          </a:p>
          <a:p>
            <a:r>
              <a:rPr lang="en-US" sz="2400" dirty="0"/>
              <a:t> </a:t>
            </a:r>
            <a:endParaRPr lang="en-IN" sz="2400" dirty="0"/>
          </a:p>
          <a:p>
            <a:endParaRPr lang="en-IN" sz="2400" dirty="0"/>
          </a:p>
          <a:p>
            <a:endParaRPr lang="en-IN" sz="2400" dirty="0"/>
          </a:p>
          <a:p>
            <a:endParaRPr lang="en-IN" sz="2400" dirty="0"/>
          </a:p>
          <a:p>
            <a:endParaRPr lang="en-IN" sz="2400" dirty="0"/>
          </a:p>
          <a:p>
            <a:endParaRPr lang="en-IN" sz="2400" dirty="0"/>
          </a:p>
          <a:p>
            <a:r>
              <a:rPr lang="en-IN" sz="2400" b="1" dirty="0"/>
              <a:t>Umpire Pose Detection:</a:t>
            </a:r>
          </a:p>
          <a:p>
            <a:r>
              <a:rPr lang="en-IN" sz="2400" dirty="0"/>
              <a:t>Dataset of 380 cricket video images across 7 umpire gesture classes like No Ball, Out, Six, split into training (300+) and test (80) sets. Images </a:t>
            </a:r>
            <a:r>
              <a:rPr lang="en-IN" sz="2400" dirty="0" err="1"/>
              <a:t>preprocessed</a:t>
            </a:r>
            <a:r>
              <a:rPr lang="en-IN" sz="2400" dirty="0"/>
              <a:t> with rescaling using TensorFlow's </a:t>
            </a:r>
            <a:r>
              <a:rPr lang="en-IN" sz="2400" dirty="0" err="1"/>
              <a:t>ImageDataGenerator</a:t>
            </a:r>
            <a:r>
              <a:rPr lang="en-IN" sz="2400" dirty="0"/>
              <a:t>. </a:t>
            </a:r>
          </a:p>
          <a:p>
            <a:r>
              <a:rPr lang="en-IN" sz="2400" dirty="0"/>
              <a:t>CNN architecture with increasing Conv2D filter sizes (32-256), 3x3 kernels, </a:t>
            </a:r>
            <a:r>
              <a:rPr lang="en-IN" sz="2400" dirty="0" err="1"/>
              <a:t>ReLU</a:t>
            </a:r>
            <a:r>
              <a:rPr lang="en-IN" sz="2400" dirty="0"/>
              <a:t> activations, </a:t>
            </a:r>
            <a:r>
              <a:rPr lang="en-IN" sz="2400" dirty="0" err="1"/>
              <a:t>MaxPooling</a:t>
            </a:r>
            <a:r>
              <a:rPr lang="en-IN" sz="2400" dirty="0"/>
              <a:t> for </a:t>
            </a:r>
            <a:r>
              <a:rPr lang="en-IN" sz="2400" dirty="0" err="1"/>
              <a:t>downsampling</a:t>
            </a:r>
            <a:r>
              <a:rPr lang="en-IN" sz="2400" dirty="0"/>
              <a:t>, and Dense layers (512 units) before final </a:t>
            </a:r>
            <a:r>
              <a:rPr lang="en-IN" sz="2400" dirty="0" err="1"/>
              <a:t>softmax</a:t>
            </a:r>
            <a:r>
              <a:rPr lang="en-IN" sz="2400" dirty="0"/>
              <a:t> output layer. </a:t>
            </a:r>
          </a:p>
          <a:p>
            <a:r>
              <a:rPr lang="en-IN" sz="2400" dirty="0"/>
              <a:t>Trained for 30 epochs with batch size 16, using Adam optimizer and categorical cross-entropy loss. Monitored validation set performance to detect overfitting/underfitting.</a:t>
            </a:r>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p:txBody>
      </p:sp>
      <p:sp>
        <p:nvSpPr>
          <p:cNvPr id="11" name="Text Placeholder 68"/>
          <p:cNvSpPr txBox="1">
            <a:spLocks/>
          </p:cNvSpPr>
          <p:nvPr/>
        </p:nvSpPr>
        <p:spPr>
          <a:xfrm>
            <a:off x="10709812" y="3095034"/>
            <a:ext cx="10350000" cy="13155721"/>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This research successfully developed and implemented a CNN-based model that can automatically classify umpire gestures and batting shots in cricket matches.</a:t>
            </a:r>
          </a:p>
          <a:p>
            <a:r>
              <a:rPr lang="en-US" dirty="0"/>
              <a:t>The model demonstrated high accuracy in distinguishing umpires and recognizing specific gestures like No Action, Wide, Six, No Ball, Impact Player, Leg Bye and Out displayed by umpires. </a:t>
            </a:r>
          </a:p>
          <a:p>
            <a:r>
              <a:rPr lang="en-US" dirty="0"/>
              <a:t>Additionally, it performed impressively in detecting and categorizing various cricket shots played by batsmen, such as Pre Stance, Stance, Pull Shot, and Straight Drive. </a:t>
            </a:r>
          </a:p>
          <a:p>
            <a:r>
              <a:rPr lang="en-US" dirty="0"/>
              <a:t>When evaluated on the newly curated datasets, the model achieved an accuracy of 84.34% for classifying the four types of batting shots, and 81.7% for gesture recognition.</a:t>
            </a:r>
          </a:p>
          <a:p>
            <a:r>
              <a:rPr lang="en-US" dirty="0"/>
              <a:t>These results validate the proposed approach's effectiveness in accurately categorizing umpire gestures and batsmen actions on the field.</a:t>
            </a:r>
          </a:p>
          <a:p>
            <a:r>
              <a:rPr lang="en-US" dirty="0"/>
              <a:t>The introduction of new datasets specifically designed for umpire gesture detection and shot classification contributes to advancing research in this field. These datasets enable researchers and practitioners to evaluate and compare different models' performance in a standardized manner, fostering advancements in automated cricket analysis.</a:t>
            </a:r>
          </a:p>
          <a:p>
            <a:endParaRPr lang="en-US" dirty="0"/>
          </a:p>
          <a:p>
            <a:r>
              <a:rPr lang="en-US" dirty="0"/>
              <a:t>Cricket Shot Detection (Accuracy vs Epoch):     </a:t>
            </a:r>
            <a:endParaRPr lang="en-IN" dirty="0"/>
          </a:p>
          <a:p>
            <a:endParaRPr lang="en-IN" dirty="0"/>
          </a:p>
          <a:p>
            <a:endParaRPr lang="en-IN" dirty="0"/>
          </a:p>
          <a:p>
            <a:endParaRPr lang="en-IN" dirty="0"/>
          </a:p>
          <a:p>
            <a:endParaRPr lang="en-IN" dirty="0"/>
          </a:p>
          <a:p>
            <a:endParaRPr lang="en-IN" dirty="0"/>
          </a:p>
          <a:p>
            <a:r>
              <a:rPr lang="en-US" dirty="0"/>
              <a:t>The model trains over multiple epochs, the accuracy typically increases as it learns better representations and patterns from the data.</a:t>
            </a:r>
            <a:endParaRPr lang="en-IN" dirty="0"/>
          </a:p>
          <a:p>
            <a:endParaRPr lang="en-IN" dirty="0"/>
          </a:p>
          <a:p>
            <a:r>
              <a:rPr lang="en-US" dirty="0"/>
              <a:t>Umpire</a:t>
            </a:r>
            <a:r>
              <a:rPr lang="en-US" i="1" dirty="0"/>
              <a:t> Pose Detection (Accuracy vs Epoch):</a:t>
            </a:r>
            <a:endParaRPr lang="en-IN" i="1" dirty="0"/>
          </a:p>
          <a:p>
            <a:endParaRPr lang="en-IN" i="1" dirty="0"/>
          </a:p>
          <a:p>
            <a:endParaRPr lang="en-IN" i="1" dirty="0"/>
          </a:p>
          <a:p>
            <a:endParaRPr lang="en-IN" i="1" dirty="0"/>
          </a:p>
          <a:p>
            <a:endParaRPr lang="en-IN" i="1" dirty="0"/>
          </a:p>
          <a:p>
            <a:endParaRPr lang="en-IN" i="1" dirty="0"/>
          </a:p>
          <a:p>
            <a:endParaRPr lang="en-IN" i="1" dirty="0"/>
          </a:p>
          <a:p>
            <a:r>
              <a:rPr lang="en-US" dirty="0"/>
              <a:t>The developed model shows great potential for practical applications in cricket analysis, broadcasting, and coaching. By automating the recognition of umpire gestures and batting shots, it can provide real-time insights and support decision-making during live matches. Identifying specific gestures and shots can enhance match analysis, commentary, and player performance evaluation.</a:t>
            </a:r>
            <a:endParaRPr lang="en-IN" dirty="0"/>
          </a:p>
          <a:p>
            <a:endParaRPr lang="en-IN" i="1" dirty="0"/>
          </a:p>
          <a:p>
            <a:endParaRPr lang="en-AU" i="1" dirty="0"/>
          </a:p>
          <a:p>
            <a:endParaRPr lang="en-IN" dirty="0"/>
          </a:p>
        </p:txBody>
      </p:sp>
      <p:sp>
        <p:nvSpPr>
          <p:cNvPr id="3" name="Rectangle 2"/>
          <p:cNvSpPr/>
          <p:nvPr/>
        </p:nvSpPr>
        <p:spPr>
          <a:xfrm>
            <a:off x="359812" y="6737576"/>
            <a:ext cx="4057265" cy="646331"/>
          </a:xfrm>
          <a:prstGeom prst="rect">
            <a:avLst/>
          </a:prstGeom>
        </p:spPr>
        <p:txBody>
          <a:bodyPr wrap="none">
            <a:spAutoFit/>
          </a:bodyPr>
          <a:lstStyle/>
          <a:p>
            <a:pPr algn="ctr"/>
            <a:r>
              <a:rPr lang="en-US" sz="3600" dirty="0"/>
              <a:t>SCOPE of the Project</a:t>
            </a:r>
          </a:p>
        </p:txBody>
      </p:sp>
      <p:sp>
        <p:nvSpPr>
          <p:cNvPr id="12" name="Rectangle 11"/>
          <p:cNvSpPr/>
          <p:nvPr/>
        </p:nvSpPr>
        <p:spPr>
          <a:xfrm>
            <a:off x="10655812" y="2481980"/>
            <a:ext cx="1519840" cy="646331"/>
          </a:xfrm>
          <a:prstGeom prst="rect">
            <a:avLst/>
          </a:prstGeom>
        </p:spPr>
        <p:txBody>
          <a:bodyPr wrap="none">
            <a:spAutoFit/>
          </a:bodyPr>
          <a:lstStyle/>
          <a:p>
            <a:pPr algn="ctr"/>
            <a:r>
              <a:rPr lang="en-US" sz="3600" dirty="0"/>
              <a:t>Results</a:t>
            </a:r>
          </a:p>
        </p:txBody>
      </p:sp>
      <p:sp>
        <p:nvSpPr>
          <p:cNvPr id="13" name="Rectangle 12"/>
          <p:cNvSpPr/>
          <p:nvPr/>
        </p:nvSpPr>
        <p:spPr>
          <a:xfrm>
            <a:off x="359812" y="10298296"/>
            <a:ext cx="2706895" cy="646331"/>
          </a:xfrm>
          <a:prstGeom prst="rect">
            <a:avLst/>
          </a:prstGeom>
        </p:spPr>
        <p:txBody>
          <a:bodyPr wrap="none">
            <a:spAutoFit/>
          </a:bodyPr>
          <a:lstStyle/>
          <a:p>
            <a:r>
              <a:rPr lang="en-US" altLang="zh-CN" sz="3600" dirty="0"/>
              <a:t>Methodology</a:t>
            </a:r>
          </a:p>
        </p:txBody>
      </p:sp>
      <p:sp>
        <p:nvSpPr>
          <p:cNvPr id="14" name="Content Placeholder 10"/>
          <p:cNvSpPr txBox="1">
            <a:spLocks/>
          </p:cNvSpPr>
          <p:nvPr/>
        </p:nvSpPr>
        <p:spPr>
          <a:xfrm>
            <a:off x="359812" y="7410004"/>
            <a:ext cx="10350000" cy="276548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sz="2400" dirty="0"/>
              <a:t>The proposed approach combines CNN for feature extraction, LSTM for temporal modeling of cricket shots, and MediaPipe for pose estimation and tracking. This integrated solution aims to automate decision-making in cricket matches by classifying umpires/non-umpires, recognizing umpire gestures, and detecting batsman shots, thereby enhancing accuracy, fairness, and overall cricketing experience. </a:t>
            </a:r>
          </a:p>
        </p:txBody>
      </p:sp>
      <p:sp>
        <p:nvSpPr>
          <p:cNvPr id="21" name="Text Placeholder 68"/>
          <p:cNvSpPr txBox="1">
            <a:spLocks/>
          </p:cNvSpPr>
          <p:nvPr/>
        </p:nvSpPr>
        <p:spPr>
          <a:xfrm>
            <a:off x="359812" y="3092216"/>
            <a:ext cx="10350000" cy="1754596"/>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Previous studies lacked comprehensive systems that integrated various aspects of cricket analysis. This research proposed a novel approach combining techniques for umpire gesture recognition, and batsman shot detection to bridge this gap. It addressed the absence of publicly available datasets for cricket shot detection by creating a custom dataset.</a:t>
            </a:r>
            <a:endParaRPr lang="en-IN" dirty="0"/>
          </a:p>
        </p:txBody>
      </p:sp>
      <p:sp>
        <p:nvSpPr>
          <p:cNvPr id="22" name="Rectangle 21"/>
          <p:cNvSpPr/>
          <p:nvPr/>
        </p:nvSpPr>
        <p:spPr>
          <a:xfrm>
            <a:off x="415049" y="2481980"/>
            <a:ext cx="2514919" cy="646331"/>
          </a:xfrm>
          <a:prstGeom prst="rect">
            <a:avLst/>
          </a:prstGeom>
        </p:spPr>
        <p:txBody>
          <a:bodyPr wrap="none">
            <a:spAutoFit/>
          </a:bodyPr>
          <a:lstStyle/>
          <a:p>
            <a:pPr algn="ctr"/>
            <a:r>
              <a:rPr lang="en-US" sz="3600" dirty="0"/>
              <a:t>Introduction</a:t>
            </a:r>
          </a:p>
        </p:txBody>
      </p:sp>
      <p:sp>
        <p:nvSpPr>
          <p:cNvPr id="27" name="Text Placeholder 68"/>
          <p:cNvSpPr txBox="1">
            <a:spLocks/>
          </p:cNvSpPr>
          <p:nvPr/>
        </p:nvSpPr>
        <p:spPr>
          <a:xfrm>
            <a:off x="10703962" y="23383399"/>
            <a:ext cx="10319850" cy="295910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Overall, this research paper presents a valuable contribution to automated cricket analysis by developing a CNN-based model for classifying umpire gestures and batting shots. </a:t>
            </a:r>
          </a:p>
          <a:p>
            <a:r>
              <a:rPr lang="en-US" dirty="0"/>
              <a:t>The achieved accuracies demonstrate the model's effectiveness and potential for real-world applications. This work paves the way for further research and development, ultimately enhancing the understanding and analysis of the beloved sport of cricket.</a:t>
            </a:r>
            <a:endParaRPr lang="en-IN" dirty="0"/>
          </a:p>
        </p:txBody>
      </p:sp>
      <p:sp>
        <p:nvSpPr>
          <p:cNvPr id="28" name="Rectangle 27"/>
          <p:cNvSpPr/>
          <p:nvPr/>
        </p:nvSpPr>
        <p:spPr>
          <a:xfrm>
            <a:off x="10637587" y="25180742"/>
            <a:ext cx="10362150" cy="4708981"/>
          </a:xfrm>
          <a:prstGeom prst="rect">
            <a:avLst/>
          </a:prstGeom>
        </p:spPr>
        <p:txBody>
          <a:bodyPr wrap="square">
            <a:spAutoFit/>
          </a:bodyPr>
          <a:lstStyle/>
          <a:p>
            <a:endParaRPr lang="en-US" sz="3600" dirty="0"/>
          </a:p>
          <a:p>
            <a:endParaRPr lang="en-US" sz="3600" dirty="0"/>
          </a:p>
          <a:p>
            <a:r>
              <a:rPr lang="en-US" sz="3600" dirty="0"/>
              <a:t>References</a:t>
            </a:r>
          </a:p>
          <a:p>
            <a:r>
              <a:rPr lang="en-US" sz="2400" dirty="0"/>
              <a:t>[1] W </a:t>
            </a:r>
            <a:r>
              <a:rPr lang="en-US" sz="2400" dirty="0" err="1"/>
              <a:t>Supanich</a:t>
            </a:r>
            <a:r>
              <a:rPr lang="en-US" sz="2400" dirty="0"/>
              <a:t>, S </a:t>
            </a:r>
            <a:r>
              <a:rPr lang="en-US" sz="2400" dirty="0" err="1"/>
              <a:t>Kulkarineetham</a:t>
            </a:r>
            <a:r>
              <a:rPr lang="en-US" sz="2400" dirty="0"/>
              <a:t>, P </a:t>
            </a:r>
            <a:r>
              <a:rPr lang="en-US" sz="2400" dirty="0" err="1"/>
              <a:t>Sukphokha</a:t>
            </a:r>
            <a:r>
              <a:rPr lang="en-US" sz="2400" dirty="0"/>
              <a:t>, P </a:t>
            </a:r>
            <a:r>
              <a:rPr lang="en-US" sz="2400" dirty="0" err="1"/>
              <a:t>Wisarnsart</a:t>
            </a:r>
            <a:r>
              <a:rPr lang="en-US" sz="2400" dirty="0"/>
              <a:t>, Machine learning-based exercise posture recognition system using </a:t>
            </a:r>
            <a:r>
              <a:rPr lang="en-US" sz="2400" dirty="0" err="1"/>
              <a:t>mediapipe</a:t>
            </a:r>
            <a:r>
              <a:rPr lang="en-US" sz="2400" dirty="0"/>
              <a:t> pose estimation framework, 2023.</a:t>
            </a:r>
          </a:p>
          <a:p>
            <a:r>
              <a:rPr lang="en-US" sz="2400" dirty="0"/>
              <a:t>[2] C </a:t>
            </a:r>
            <a:r>
              <a:rPr lang="en-US" sz="2400" dirty="0" err="1"/>
              <a:t>Akrin</a:t>
            </a:r>
            <a:r>
              <a:rPr lang="en-US" sz="2400" dirty="0"/>
              <a:t>, Using Imitation Learning for Human Motion Control in a Virtual Simulation, 2022</a:t>
            </a:r>
            <a:endParaRPr lang="en-US" sz="3600" dirty="0"/>
          </a:p>
          <a:p>
            <a:pPr algn="ctr"/>
            <a:endParaRPr lang="en-US" sz="3600" dirty="0"/>
          </a:p>
          <a:p>
            <a:pPr algn="ctr"/>
            <a:endParaRPr lang="en-US" sz="3600" dirty="0"/>
          </a:p>
        </p:txBody>
      </p:sp>
      <p:sp>
        <p:nvSpPr>
          <p:cNvPr id="29" name="Rectangle 28"/>
          <p:cNvSpPr/>
          <p:nvPr/>
        </p:nvSpPr>
        <p:spPr>
          <a:xfrm>
            <a:off x="10788168" y="22741062"/>
            <a:ext cx="2233304" cy="646331"/>
          </a:xfrm>
          <a:prstGeom prst="rect">
            <a:avLst/>
          </a:prstGeom>
        </p:spPr>
        <p:txBody>
          <a:bodyPr wrap="none">
            <a:spAutoFit/>
          </a:bodyPr>
          <a:lstStyle/>
          <a:p>
            <a:pPr algn="ctr"/>
            <a:r>
              <a:rPr lang="en-US" sz="3600" dirty="0"/>
              <a:t>Conclusion</a:t>
            </a:r>
          </a:p>
        </p:txBody>
      </p:sp>
      <p:sp>
        <p:nvSpPr>
          <p:cNvPr id="24" name="Text Placeholder 68"/>
          <p:cNvSpPr txBox="1">
            <a:spLocks/>
          </p:cNvSpPr>
          <p:nvPr/>
        </p:nvSpPr>
        <p:spPr>
          <a:xfrm>
            <a:off x="359812" y="5364346"/>
            <a:ext cx="10314000" cy="1491295"/>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The motivation of the project encompasses the development of an advanced system for gesture and shot recognition in cricket, leveraging state-of-the-art deep learning techniques and frameworks to enhance real-time analysis and decision support in cricket matches.</a:t>
            </a:r>
            <a:endParaRPr lang="en-IN" dirty="0"/>
          </a:p>
        </p:txBody>
      </p:sp>
      <p:sp>
        <p:nvSpPr>
          <p:cNvPr id="25" name="Rectangle 24"/>
          <p:cNvSpPr/>
          <p:nvPr/>
        </p:nvSpPr>
        <p:spPr>
          <a:xfrm>
            <a:off x="396948" y="4878812"/>
            <a:ext cx="2246321" cy="646331"/>
          </a:xfrm>
          <a:prstGeom prst="rect">
            <a:avLst/>
          </a:prstGeom>
        </p:spPr>
        <p:txBody>
          <a:bodyPr wrap="none">
            <a:spAutoFit/>
          </a:bodyPr>
          <a:lstStyle/>
          <a:p>
            <a:pPr algn="ctr"/>
            <a:r>
              <a:rPr lang="en-US" sz="3600" dirty="0"/>
              <a:t>Motivation</a:t>
            </a:r>
          </a:p>
        </p:txBody>
      </p:sp>
      <p:pic>
        <p:nvPicPr>
          <p:cNvPr id="4" name="Picture 3">
            <a:extLst>
              <a:ext uri="{FF2B5EF4-FFF2-40B4-BE49-F238E27FC236}">
                <a16:creationId xmlns:a16="http://schemas.microsoft.com/office/drawing/2014/main" id="{3F594416-DDCB-8992-7AA2-08326B6BD90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4825" y="18462980"/>
            <a:ext cx="8295201" cy="3813243"/>
          </a:xfrm>
          <a:prstGeom prst="rect">
            <a:avLst/>
          </a:prstGeom>
          <a:noFill/>
          <a:ln>
            <a:noFill/>
          </a:ln>
        </p:spPr>
      </p:pic>
      <p:pic>
        <p:nvPicPr>
          <p:cNvPr id="8" name="Picture 7">
            <a:extLst>
              <a:ext uri="{FF2B5EF4-FFF2-40B4-BE49-F238E27FC236}">
                <a16:creationId xmlns:a16="http://schemas.microsoft.com/office/drawing/2014/main" id="{7800C1DA-D3C1-0DFB-0B11-1C4ED09CB78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88168" y="11766526"/>
            <a:ext cx="4951185" cy="3377234"/>
          </a:xfrm>
          <a:prstGeom prst="rect">
            <a:avLst/>
          </a:prstGeom>
          <a:noFill/>
          <a:ln>
            <a:noFill/>
          </a:ln>
        </p:spPr>
      </p:pic>
      <p:pic>
        <p:nvPicPr>
          <p:cNvPr id="9" name="Picture 8">
            <a:extLst>
              <a:ext uri="{FF2B5EF4-FFF2-40B4-BE49-F238E27FC236}">
                <a16:creationId xmlns:a16="http://schemas.microsoft.com/office/drawing/2014/main" id="{CA242642-2DB4-C650-27F8-CC5C2A0247A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88168" y="17153515"/>
            <a:ext cx="4646285" cy="3442494"/>
          </a:xfrm>
          <a:prstGeom prst="rect">
            <a:avLst/>
          </a:prstGeom>
          <a:noFill/>
          <a:ln>
            <a:noFill/>
          </a:ln>
        </p:spPr>
      </p:pic>
      <p:sp>
        <p:nvSpPr>
          <p:cNvPr id="15" name="TextBox 14">
            <a:extLst>
              <a:ext uri="{FF2B5EF4-FFF2-40B4-BE49-F238E27FC236}">
                <a16:creationId xmlns:a16="http://schemas.microsoft.com/office/drawing/2014/main" id="{FF1CF297-21B8-0DA4-2B3E-2C468344ED2D}"/>
              </a:ext>
            </a:extLst>
          </p:cNvPr>
          <p:cNvSpPr txBox="1"/>
          <p:nvPr/>
        </p:nvSpPr>
        <p:spPr>
          <a:xfrm>
            <a:off x="16128460" y="12352096"/>
            <a:ext cx="4357991" cy="1938992"/>
          </a:xfrm>
          <a:prstGeom prst="rect">
            <a:avLst/>
          </a:prstGeom>
          <a:noFill/>
        </p:spPr>
        <p:txBody>
          <a:bodyPr wrap="square" rtlCol="0">
            <a:spAutoFit/>
          </a:bodyPr>
          <a:lstStyle/>
          <a:p>
            <a:r>
              <a:rPr lang="en-US" sz="2400" dirty="0"/>
              <a:t>Monitoring the model's learning progress and identifying the optimal number of epochs to train for achieving the best performance without overfitting.</a:t>
            </a:r>
            <a:endParaRPr lang="en-IN" sz="2400" dirty="0"/>
          </a:p>
        </p:txBody>
      </p:sp>
    </p:spTree>
    <p:extLst>
      <p:ext uri="{BB962C8B-B14F-4D97-AF65-F5344CB8AC3E}">
        <p14:creationId xmlns:p14="http://schemas.microsoft.com/office/powerpoint/2010/main" val="36060411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ster_2016_m.potx" id="{C99F4834-73B2-44AB-9211-DD57E3EBE727}" vid="{C99B119E-4D31-4661-B76A-37761BBBC0B1}"/>
    </a:ext>
  </a:extLst>
</a:theme>
</file>

<file path=docProps/app.xml><?xml version="1.0" encoding="utf-8"?>
<Properties xmlns="http://schemas.openxmlformats.org/officeDocument/2006/extended-properties" xmlns:vt="http://schemas.openxmlformats.org/officeDocument/2006/docPropsVTypes">
  <Template/>
  <TotalTime>2682</TotalTime>
  <Words>911</Words>
  <Application>Microsoft Office PowerPoint</Application>
  <PresentationFormat>Custom</PresentationFormat>
  <Paragraphs>72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Jayasankar Variyar</dc:creator>
  <cp:lastModifiedBy>Vanagarouthu Sreechaitran</cp:lastModifiedBy>
  <cp:revision>52</cp:revision>
  <dcterms:created xsi:type="dcterms:W3CDTF">2016-03-28T06:32:15Z</dcterms:created>
  <dcterms:modified xsi:type="dcterms:W3CDTF">2026-07-04T14:16:29Z</dcterms:modified>
</cp:coreProperties>
</file>